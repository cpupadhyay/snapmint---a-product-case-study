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3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150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E84F0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0" y="3200400"/>
            <a:ext cx="3657600" cy="3657600"/>
          </a:xfrm>
          <a:prstGeom prst="ellipse">
            <a:avLst/>
          </a:prstGeom>
          <a:solidFill>
            <a:srgbClr val="E84F0A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PRODUCT CASE STUDY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Snapmint Is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4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Losing Users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Moment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Purchase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to Fix It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097280" cy="45720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892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 Prakash Upadhyay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1663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Aspirant  |  Product Case Study  |  March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6217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read →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645920" cy="54864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20116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84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3–5%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3657600" y="1691640"/>
            <a:ext cx="45720" cy="914400"/>
          </a:xfrm>
          <a:prstGeom prst="rect">
            <a:avLst/>
          </a:prstGeom>
          <a:solidFill>
            <a:srgbClr val="8892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0" y="16002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purchase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(estimated)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611880"/>
            <a:ext cx="8412480" cy="1920240"/>
          </a:xfrm>
          <a:prstGeom prst="rect">
            <a:avLst/>
          </a:prstGeom>
          <a:solidFill>
            <a:srgbClr val="FFF3E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3611880"/>
            <a:ext cx="109728" cy="1920240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041648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Snapmint users show strong purchase intent but drop off at the point of buying — due to lack of trust signals, absent cart system, and inaccessible customer support.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Losing Trust?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194560" cy="54864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user personas identified through app research &amp; Play Store reviews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743200" cy="438912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743200" cy="73152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🎓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Struggling Rahul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97280" y="3246120"/>
            <a:ext cx="1280160" cy="45720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364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19–25 yrs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6210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2468880" cy="45720"/>
          </a:xfrm>
          <a:prstGeom prst="rect">
            <a:avLst/>
          </a:prstGeom>
          <a:solidFill>
            <a:srgbClr val="0F346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069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card. First financial commitment. Needs maximum reassurance.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1828800"/>
            <a:ext cx="2743200" cy="438912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0" y="1828800"/>
            <a:ext cx="2743200" cy="73152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1965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💼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42900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Priya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023360" y="3246120"/>
            <a:ext cx="1280160" cy="45720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29000" y="3364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24–28 yrs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6210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Job, Tier 2 City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3931920"/>
            <a:ext cx="2468880" cy="45720"/>
          </a:xfrm>
          <a:prstGeom prst="rect">
            <a:avLst/>
          </a:prstGeom>
          <a:solidFill>
            <a:srgbClr val="0F346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29000" y="4069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score yet. Wants fashion &amp; decor. Needs easy returns.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1828800"/>
            <a:ext cx="2743200" cy="438912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0" y="1828800"/>
            <a:ext cx="2743200" cy="73152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1965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🏪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35508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Town Suresh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949440" y="3246120"/>
            <a:ext cx="1280160" cy="45720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55080" y="3364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30–38 yrs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36210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 Owner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3931920"/>
            <a:ext cx="2468880" cy="45720"/>
          </a:xfrm>
          <a:prstGeom prst="rect">
            <a:avLst/>
          </a:prstGeom>
          <a:solidFill>
            <a:srgbClr val="0F346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55080" y="4069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skeptical user. Will leave if no support number visible.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6355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ALL are first-time credit users who need trust before buying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Rahul's Drop-off Journey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926080" cy="54864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1170432" cy="347472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170432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04672" cy="36576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788920"/>
            <a:ext cx="10789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 &amp; motivated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44752" y="2834640"/>
            <a:ext cx="54864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99616" y="1417320"/>
            <a:ext cx="1170432" cy="347472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99616" y="1417320"/>
            <a:ext cx="1170432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99616" y="155448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45336" y="2176272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Product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82496" y="2697480"/>
            <a:ext cx="804672" cy="36576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45336" y="2788920"/>
            <a:ext cx="10789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— wants to buy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70048" y="2834640"/>
            <a:ext cx="54864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24912" y="1417320"/>
            <a:ext cx="1170432" cy="3474720"/>
          </a:xfrm>
          <a:prstGeom prst="rect">
            <a:avLst/>
          </a:prstGeom>
          <a:solidFill>
            <a:srgbClr val="FFF1F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24912" y="1417320"/>
            <a:ext cx="1170432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24912" y="155448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770632" y="2176272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for Reviews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07792" y="2697480"/>
            <a:ext cx="804672" cy="36576"/>
          </a:xfrm>
          <a:prstGeom prst="rect">
            <a:avLst/>
          </a:prstGeom>
          <a:solidFill>
            <a:srgbClr val="E9456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70632" y="2788920"/>
            <a:ext cx="10789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reviews → RED FLAG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95344" y="2834640"/>
            <a:ext cx="54864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950208" y="1417320"/>
            <a:ext cx="1170432" cy="3474720"/>
          </a:xfrm>
          <a:prstGeom prst="rect">
            <a:avLst/>
          </a:prstGeom>
          <a:solidFill>
            <a:srgbClr val="FFF1F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50208" y="1417320"/>
            <a:ext cx="1170432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950208" y="155448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995928" y="2176272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EMI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33088" y="2697480"/>
            <a:ext cx="804672" cy="36576"/>
          </a:xfrm>
          <a:prstGeom prst="rect">
            <a:avLst/>
          </a:prstGeom>
          <a:solidFill>
            <a:srgbClr val="E9456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995928" y="2788920"/>
            <a:ext cx="10789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only → Too expensive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0640" y="2834640"/>
            <a:ext cx="54864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175504" y="1417320"/>
            <a:ext cx="1170432" cy="3474720"/>
          </a:xfrm>
          <a:prstGeom prst="rect">
            <a:avLst/>
          </a:prstGeom>
          <a:solidFill>
            <a:srgbClr val="FFF1F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175504" y="1417320"/>
            <a:ext cx="1170432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75504" y="155448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🛍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221224" y="2176272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Cart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58384" y="2697480"/>
            <a:ext cx="804672" cy="36576"/>
          </a:xfrm>
          <a:prstGeom prst="rect">
            <a:avLst/>
          </a:prstGeom>
          <a:solidFill>
            <a:srgbClr val="E9456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21224" y="2788920"/>
            <a:ext cx="10789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cart → Must buy separately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45936" y="2834640"/>
            <a:ext cx="54864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00800" y="1417320"/>
            <a:ext cx="1170432" cy="3474720"/>
          </a:xfrm>
          <a:prstGeom prst="rect">
            <a:avLst/>
          </a:prstGeom>
          <a:solidFill>
            <a:srgbClr val="FFF1F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00800" y="1417320"/>
            <a:ext cx="1170432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00800" y="155448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📞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6446520" y="2176272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Support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83680" y="2697480"/>
            <a:ext cx="804672" cy="36576"/>
          </a:xfrm>
          <a:prstGeom prst="rect">
            <a:avLst/>
          </a:prstGeom>
          <a:solidFill>
            <a:srgbClr val="E9456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46520" y="2788920"/>
            <a:ext cx="10789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Unreachable → Panic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571232" y="2834640"/>
            <a:ext cx="54864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626096" y="1417320"/>
            <a:ext cx="1170432" cy="3474720"/>
          </a:xfrm>
          <a:prstGeom prst="rect">
            <a:avLst/>
          </a:prstGeom>
          <a:solidFill>
            <a:srgbClr val="FFF1F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626096" y="1417320"/>
            <a:ext cx="1170432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626096" y="155448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😤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7671816" y="2176272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 Flipkart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808976" y="2697480"/>
            <a:ext cx="804672" cy="36576"/>
          </a:xfrm>
          <a:prstGeom prst="rect">
            <a:avLst/>
          </a:prstGeom>
          <a:solidFill>
            <a:srgbClr val="E9456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671816" y="2788920"/>
            <a:ext cx="10789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5120640"/>
            <a:ext cx="8412480" cy="137160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65760" y="5120640"/>
            <a:ext cx="109728" cy="1371600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94360" y="52578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Finding: Snapmint was built for transactions — not for trust.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94360" y="566928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 mechanics work. But first-time buyers need hand-holding before, during, and after every purchase.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 Star Metric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194560" cy="54864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1463040"/>
            <a:ext cx="6949440" cy="1828800"/>
          </a:xfrm>
          <a:prstGeom prst="rect">
            <a:avLst/>
          </a:prstGeom>
          <a:solidFill>
            <a:srgbClr val="E84F0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Successful Purchase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Completion Rate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33375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users who viewed a product and completed purchase within 7 days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931920"/>
            <a:ext cx="2651760" cy="24688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069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Trust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50749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users trust the platform, they complete purchases. NSM goes up.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3931920"/>
            <a:ext cx="2651760" cy="24688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4069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4663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UX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50749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cart, EMI options and filters improve conversion directly.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931920"/>
            <a:ext cx="2651760" cy="24688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4069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4663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Revenue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50749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Snapmint earns only when purchase happens. NSM = real revenue signal.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Feature Recommendations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474720" cy="54864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91440" cy="11430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Verified Buyer Reviews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5623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reviews = silent red flag. Social proof builds purchase confidence.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508760"/>
            <a:ext cx="384048" cy="228600"/>
          </a:xfrm>
          <a:prstGeom prst="roundRect">
            <a:avLst>
              <a:gd name="adj" fmla="val 12000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31920" y="150876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715768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715768"/>
            <a:ext cx="91440" cy="11430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8072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In-App Support Center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 + call + FAQ. No support = no trust for Rs. 15K purchase.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2807208"/>
            <a:ext cx="384048" cy="228600"/>
          </a:xfrm>
          <a:prstGeom prst="roundRect">
            <a:avLst>
              <a:gd name="adj" fmla="val 12000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31920" y="2807208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4014216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4014216"/>
            <a:ext cx="91440" cy="1143000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1056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Multi-Product Cart + EMI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45312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cart with 3, 6, 12 month EMI options. Increases AOV.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4105656"/>
            <a:ext cx="384048" cy="228600"/>
          </a:xfrm>
          <a:prstGeom prst="roundRect">
            <a:avLst>
              <a:gd name="adj" fmla="val 12000"/>
            </a:avLst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0" y="4105656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5312664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5312664"/>
            <a:ext cx="91440" cy="1143000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54041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Profile 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75157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history, active EMIs, account details in one place.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31920" y="5404104"/>
            <a:ext cx="384048" cy="228600"/>
          </a:xfrm>
          <a:prstGeom prst="roundRect">
            <a:avLst>
              <a:gd name="adj" fmla="val 12000"/>
            </a:avLst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931920" y="5404104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14173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937760" y="1417320"/>
            <a:ext cx="91440" cy="1143000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20640" y="15087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7-Day Return Policy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20640" y="185623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return initiation. Removes pre-purchase fear for Priya.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1508760"/>
            <a:ext cx="384048" cy="228600"/>
          </a:xfrm>
          <a:prstGeom prst="roundRect">
            <a:avLst>
              <a:gd name="adj" fmla="val 12000"/>
            </a:avLst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503920" y="150876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37760" y="2715768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937760" y="2715768"/>
            <a:ext cx="91440" cy="114300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20640" y="28072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Real-Time Order Tracking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20640" y="31546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Stage-by-stage delivery flow. Eliminates post-purchase anxiety.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03920" y="2807208"/>
            <a:ext cx="384048" cy="228600"/>
          </a:xfrm>
          <a:prstGeom prst="roundRect">
            <a:avLst>
              <a:gd name="adj" fmla="val 120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503920" y="2807208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651760" y="4014216"/>
            <a:ext cx="3840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651760" y="4014216"/>
            <a:ext cx="91440" cy="114300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834640" y="41056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Gender &amp; Category Filters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834640" y="445312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discovery for men, women, electronics, fashion.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89320" y="4105656"/>
            <a:ext cx="384048" cy="228600"/>
          </a:xfrm>
          <a:prstGeom prst="roundRect">
            <a:avLst>
              <a:gd name="adj" fmla="val 120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989320" y="4105656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RICE Prioritization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194560" cy="54864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(Reach × Impact × Confidence) ÷ Effort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8503920" cy="384048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80136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180136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80136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80136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80136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180136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194560"/>
            <a:ext cx="8503920" cy="54864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2860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Buyer Reviews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22860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22860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22860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22860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2860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42632" y="2331720"/>
            <a:ext cx="585216" cy="274320"/>
          </a:xfrm>
          <a:prstGeom prst="roundRect">
            <a:avLst>
              <a:gd name="adj" fmla="val 13333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42632" y="2331720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761488"/>
            <a:ext cx="8503920" cy="54864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8529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Support Center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285292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49040" y="285292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28529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285292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285292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42632" y="2898648"/>
            <a:ext cx="585216" cy="274320"/>
          </a:xfrm>
          <a:prstGeom prst="roundRect">
            <a:avLst>
              <a:gd name="adj" fmla="val 13333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42632" y="2898648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328416"/>
            <a:ext cx="8503920" cy="54864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341985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Multi-Product Cart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26080" y="341985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49040" y="341985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0" y="341985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77840" y="341985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0" y="3419856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342632" y="3465576"/>
            <a:ext cx="585216" cy="274320"/>
          </a:xfrm>
          <a:prstGeom prst="roundRect">
            <a:avLst>
              <a:gd name="adj" fmla="val 13333"/>
            </a:avLst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42632" y="3465576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3895344"/>
            <a:ext cx="8503920" cy="54864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398678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Dashboard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926080" y="3986784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749040" y="3986784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0" y="398678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77840" y="3986784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0" y="3986784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342632" y="4032504"/>
            <a:ext cx="585216" cy="274320"/>
          </a:xfrm>
          <a:prstGeom prst="roundRect">
            <a:avLst>
              <a:gd name="adj" fmla="val 13333"/>
            </a:avLst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342632" y="4032504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" y="4462272"/>
            <a:ext cx="8503920" cy="54864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5760" y="455371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Return Policy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926080" y="455371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749040" y="455371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72000" y="455371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577840" y="455371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400800" y="4553712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342632" y="4599432"/>
            <a:ext cx="585216" cy="274320"/>
          </a:xfrm>
          <a:prstGeom prst="roundRect">
            <a:avLst>
              <a:gd name="adj" fmla="val 13333"/>
            </a:avLst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342632" y="4599432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0040" y="5029200"/>
            <a:ext cx="8503920" cy="54864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5760" y="51206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926080" y="51206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749040" y="51206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572000" y="51206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577840" y="51206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400800" y="51206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7342632" y="5166360"/>
            <a:ext cx="585216" cy="27432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342632" y="5166360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0040" y="5596128"/>
            <a:ext cx="8503920" cy="54864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65760" y="56875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Filters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2926080" y="568756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3749040" y="568756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72000" y="568756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577840" y="568756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400800" y="568756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7342632" y="5733288"/>
            <a:ext cx="585216" cy="27432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342632" y="5733288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Metrics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194560" cy="54864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123444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09728" cy="1234440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444752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4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12–15%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3566160" y="1600200"/>
            <a:ext cx="45720" cy="731520"/>
          </a:xfrm>
          <a:prstGeom prst="rect">
            <a:avLst/>
          </a:prstGeom>
          <a:solidFill>
            <a:srgbClr val="8892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49040" y="14630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Purchase Conversion Rate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(NSM Target in 6 months)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3–5% current estimated baseline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269748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29718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Growth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32735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Baseline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3566160"/>
            <a:ext cx="2468880" cy="36576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6758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+25%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46120" y="2834640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2834640"/>
            <a:ext cx="269748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55848" y="29718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55848" y="32735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High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55848" y="3566160"/>
            <a:ext cx="2468880" cy="36576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55848" y="36758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↓ 30%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2834640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2697480" cy="64008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36208" y="29718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Resolution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6208" y="32735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48–72 hrs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36208" y="3566160"/>
            <a:ext cx="2468880" cy="36576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36208" y="36758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4 hrs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4370832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4370832"/>
            <a:ext cx="269748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" y="45079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" y="48097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~0%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" y="5102352"/>
            <a:ext cx="2468880" cy="36576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" y="52120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20% buyers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46120" y="4370832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46120" y="4370832"/>
            <a:ext cx="2697480" cy="64008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55848" y="45079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55848" y="48097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Low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55848" y="5102352"/>
            <a:ext cx="2468880" cy="36576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55848" y="52120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+40%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126480" y="4370832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26480" y="4370832"/>
            <a:ext cx="2697480" cy="6400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36208" y="45079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36208" y="48097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Unknown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36208" y="5102352"/>
            <a:ext cx="2468880" cy="36576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36208" y="52120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8%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1A1A2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74320" y="4754880"/>
            <a:ext cx="228600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23360" y="7315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Snapmint does not have a product problem.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023360" y="1417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4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has a trust problem.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023360" y="2057400"/>
            <a:ext cx="4754880" cy="3657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23360" y="2286000"/>
            <a:ext cx="164592" cy="164592"/>
          </a:xfrm>
          <a:prstGeom prst="ellipse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15968" y="224942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needs confidence before he buys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2944368"/>
            <a:ext cx="164592" cy="164592"/>
          </a:xfrm>
          <a:prstGeom prst="ellipse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15968" y="290779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needs assurance she can return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23360" y="3602736"/>
            <a:ext cx="164592" cy="164592"/>
          </a:xfrm>
          <a:prstGeom prst="ellipse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15968" y="35661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needs proof someone will pick up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23360" y="4343400"/>
            <a:ext cx="4754880" cy="146304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23360" y="4343400"/>
            <a:ext cx="91440" cy="1463040"/>
          </a:xfrm>
          <a:prstGeom prst="rect">
            <a:avLst/>
          </a:prstGeom>
          <a:solidFill>
            <a:srgbClr val="E84F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51960" y="44805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the trust.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conversions will follow.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023360" y="6035040"/>
            <a:ext cx="4754880" cy="6400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60520" y="60807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 Prakash Upadhyay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60520" y="63276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chandraprakashupadhyay2001@gmail.com  |  Bengaluru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694</Words>
  <Application>Microsoft Office PowerPoint</Application>
  <PresentationFormat>On-screen Show (4:3)</PresentationFormat>
  <Paragraphs>205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Snapmint Case Study</dc:title>
  <dc:subject>PptxGenJS Presentation</dc:subject>
  <dc:creator>PptxGenJS</dc:creator>
  <cp:lastModifiedBy>CHANDRA PRAKASH UPADHYAY</cp:lastModifiedBy>
  <cp:revision>1</cp:revision>
  <dcterms:created xsi:type="dcterms:W3CDTF">2026-03-31T06:05:03Z</dcterms:created>
  <dcterms:modified xsi:type="dcterms:W3CDTF">2026-03-31T06:31:41Z</dcterms:modified>
</cp:coreProperties>
</file>